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3"/>
  </p:notesMasterIdLst>
  <p:sldIdLst>
    <p:sldId id="256" r:id="rId2"/>
  </p:sldIdLst>
  <p:sldSz cx="30275213" cy="4280376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72">
          <p15:clr>
            <a:srgbClr val="747775"/>
          </p15:clr>
        </p15:guide>
        <p15:guide id="2" pos="9536">
          <p15:clr>
            <a:schemeClr val="accent3"/>
          </p15:clr>
        </p15:guide>
        <p15:guide id="3" pos="18799">
          <p15:clr>
            <a:srgbClr val="747775"/>
          </p15:clr>
        </p15:guide>
        <p15:guide id="4" pos="9400">
          <p15:clr>
            <a:srgbClr val="747775"/>
          </p15:clr>
        </p15:guide>
        <p15:guide id="5" pos="9672">
          <p15:clr>
            <a:srgbClr val="747775"/>
          </p15:clr>
        </p15:guide>
        <p15:guide id="6" orient="horz" pos="5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8438" autoAdjust="0"/>
    <p:restoredTop sz="94660"/>
  </p:normalViewPr>
  <p:slideViewPr>
    <p:cSldViewPr snapToGrid="0">
      <p:cViewPr varScale="1">
        <p:scale>
          <a:sx n="34" d="100"/>
          <a:sy n="34" d="100"/>
        </p:scale>
        <p:origin x="101" y="634"/>
      </p:cViewPr>
      <p:guideLst>
        <p:guide pos="272"/>
        <p:guide pos="9536"/>
        <p:guide pos="18799"/>
        <p:guide pos="9400"/>
        <p:guide pos="9672"/>
        <p:guide orient="horz" pos="5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84438" y="720725"/>
            <a:ext cx="25464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720725"/>
            <a:ext cx="254635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TODOs: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check images for resolution before printing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If you open source your code (check with supervisor):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Replace url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Replace QR code (top right), use QR Monkey, it’s free and persistent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Add acknowledgments if applicable (e.g. project funding)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Make sure references are correct</a:t>
            </a:r>
            <a:endParaRPr/>
          </a:p>
        </p:txBody>
      </p:sp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514516" y="1714510"/>
            <a:ext cx="27246900" cy="7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3225" tIns="186625" rIns="373225" bIns="1866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1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514516" y="9987022"/>
            <a:ext cx="27246900" cy="282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3225" tIns="186625" rIns="373225" bIns="186625" anchor="t" anchorCtr="0">
            <a:noAutofit/>
          </a:bodyPr>
          <a:lstStyle>
            <a:lvl1pPr marL="457200" marR="0" lvl="0" indent="-1060450" algn="l" rtl="0">
              <a:spcBef>
                <a:spcPts val="2600"/>
              </a:spcBef>
              <a:spcAft>
                <a:spcPts val="0"/>
              </a:spcAft>
              <a:buClr>
                <a:schemeClr val="dk1"/>
              </a:buClr>
              <a:buSzPts val="13100"/>
              <a:buFont typeface="Arial"/>
              <a:buChar char="•"/>
              <a:defRPr sz="13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952500" algn="l" rtl="0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400"/>
              <a:buFont typeface="Arial"/>
              <a:buChar char="–"/>
              <a:defRPr sz="1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850900" algn="l" rtl="0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9800"/>
              <a:buFont typeface="Arial"/>
              <a:buChar char="•"/>
              <a:defRPr sz="9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4295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–"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4295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»"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4295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•"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4295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•"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4295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•"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4295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•"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15354300" y="40040625"/>
            <a:ext cx="14489100" cy="2108700"/>
          </a:xfrm>
          <a:prstGeom prst="roundRect">
            <a:avLst>
              <a:gd name="adj" fmla="val 9135"/>
            </a:avLst>
          </a:prstGeom>
          <a:noFill/>
          <a:ln w="762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850" tIns="81850" rIns="81850" bIns="81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32514" y="1662585"/>
            <a:ext cx="29411100" cy="4201800"/>
          </a:xfrm>
          <a:prstGeom prst="roundRect">
            <a:avLst>
              <a:gd name="adj" fmla="val 5036"/>
            </a:avLst>
          </a:prstGeom>
          <a:solidFill>
            <a:srgbClr val="344A9A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850" tIns="81850" rIns="81850" bIns="81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32656" y="7329892"/>
            <a:ext cx="29411100" cy="7893900"/>
          </a:xfrm>
          <a:prstGeom prst="roundRect">
            <a:avLst>
              <a:gd name="adj" fmla="val 1566"/>
            </a:avLst>
          </a:prstGeom>
          <a:noFill/>
          <a:ln w="762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850" tIns="81850" rIns="81850" bIns="81850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chemeClr val="dk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</a:rPr>
              <a:t>TASK: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Implement DeepMind’s </a:t>
            </a:r>
            <a:r>
              <a:rPr lang="de-DE" sz="2400" b="1" dirty="0"/>
              <a:t>Maximum a Posteriori Policy </a:t>
            </a:r>
            <a:r>
              <a:rPr lang="de-DE" sz="2400" b="1" dirty="0" err="1"/>
              <a:t>Optimization</a:t>
            </a:r>
            <a:r>
              <a:rPr lang="de-DE" sz="2400" dirty="0"/>
              <a:t> (MPO)</a:t>
            </a:r>
            <a:r>
              <a:rPr lang="en-US" sz="2400" dirty="0">
                <a:solidFill>
                  <a:schemeClr val="dk1"/>
                </a:solidFill>
              </a:rPr>
              <a:t> algorithm [1] from scratch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Investigate MPO’s training dynamics on simple continuous environments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Using MPO, train an agent to score a goal in a custom </a:t>
            </a:r>
            <a:r>
              <a:rPr lang="en-US" sz="2400" dirty="0" err="1">
                <a:solidFill>
                  <a:schemeClr val="dk1"/>
                </a:solidFill>
              </a:rPr>
              <a:t>dm_control’s</a:t>
            </a:r>
            <a:r>
              <a:rPr lang="en-US" sz="2400" dirty="0">
                <a:solidFill>
                  <a:schemeClr val="dk1"/>
                </a:solidFill>
              </a:rPr>
              <a:t> soccer environment [2]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</a:rPr>
              <a:t>CHALLENGES: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Continuous control with high degree of freedom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sz="2400" dirty="0"/>
              <a:t>Learning </a:t>
            </a:r>
            <a:r>
              <a:rPr lang="de-DE" sz="2400" dirty="0" err="1"/>
              <a:t>stable</a:t>
            </a:r>
            <a:r>
              <a:rPr lang="de-DE" sz="2400" dirty="0"/>
              <a:t> </a:t>
            </a:r>
            <a:r>
              <a:rPr lang="de-DE" sz="2400" dirty="0" err="1"/>
              <a:t>bipedal</a:t>
            </a:r>
            <a:r>
              <a:rPr lang="de-DE" sz="2400" dirty="0"/>
              <a:t> </a:t>
            </a:r>
            <a:r>
              <a:rPr lang="de-DE" sz="2400" dirty="0" err="1"/>
              <a:t>locomotion</a:t>
            </a:r>
            <a:r>
              <a:rPr lang="de-DE" sz="2400" dirty="0"/>
              <a:t> (i.e. „</a:t>
            </a:r>
            <a:r>
              <a:rPr lang="de-DE" sz="2400" dirty="0" err="1"/>
              <a:t>standing</a:t>
            </a:r>
            <a:r>
              <a:rPr lang="de-DE" sz="2400" dirty="0"/>
              <a:t>“) </a:t>
            </a:r>
            <a:r>
              <a:rPr lang="en-US" sz="2400" dirty="0">
                <a:solidFill>
                  <a:schemeClr val="dk1"/>
                </a:solidFill>
              </a:rPr>
              <a:t>difficult to learn in and of itself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</a:rPr>
              <a:t>Kicking the ball requires policy to learn sequence of skills:	standing </a:t>
            </a:r>
            <a:r>
              <a:rPr lang="en-US" sz="2400" dirty="0">
                <a:solidFill>
                  <a:schemeClr val="dk1"/>
                </a:solidFill>
                <a:sym typeface="Wingdings" panose="05000000000000000000" pitchFamily="2" charset="2"/>
              </a:rPr>
              <a:t> walking  making controlled contact with ball  kick ball into goal</a:t>
            </a:r>
            <a:endParaRPr lang="en-US" sz="2400" dirty="0">
              <a:solidFill>
                <a:schemeClr val="dk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dk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dk1"/>
                </a:solidFill>
              </a:rPr>
              <a:t>MPO ALGORITHM: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2400" dirty="0"/>
              <a:t>An off-</a:t>
            </a:r>
            <a:r>
              <a:rPr lang="de-DE" sz="2400" dirty="0" err="1"/>
              <a:t>policy</a:t>
            </a:r>
            <a:r>
              <a:rPr lang="de-DE" sz="2400" dirty="0"/>
              <a:t> </a:t>
            </a:r>
            <a:r>
              <a:rPr lang="de-DE" sz="2400" dirty="0" err="1"/>
              <a:t>actor-critic</a:t>
            </a:r>
            <a:r>
              <a:rPr lang="de-DE" sz="2400" dirty="0"/>
              <a:t> </a:t>
            </a:r>
            <a:r>
              <a:rPr lang="de-DE" sz="2400" dirty="0" err="1"/>
              <a:t>reinforcement</a:t>
            </a:r>
            <a:r>
              <a:rPr lang="de-DE" sz="2400" dirty="0"/>
              <a:t> </a:t>
            </a:r>
            <a:r>
              <a:rPr lang="de-DE" sz="2400" dirty="0" err="1"/>
              <a:t>learning</a:t>
            </a:r>
            <a:r>
              <a:rPr lang="de-DE" sz="2400" dirty="0"/>
              <a:t> </a:t>
            </a:r>
            <a:r>
              <a:rPr lang="de-DE" sz="2400" dirty="0" err="1"/>
              <a:t>algorithm</a:t>
            </a:r>
            <a:endParaRPr lang="de-DE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2400" dirty="0"/>
              <a:t>Alternates </a:t>
            </a:r>
            <a:r>
              <a:rPr lang="de-DE" sz="2400" dirty="0" err="1"/>
              <a:t>between</a:t>
            </a:r>
            <a:r>
              <a:rPr lang="de-DE" sz="2400" dirty="0"/>
              <a:t> </a:t>
            </a:r>
            <a:r>
              <a:rPr lang="de-DE" sz="2400" b="1" dirty="0" err="1"/>
              <a:t>policy</a:t>
            </a:r>
            <a:r>
              <a:rPr lang="de-DE" sz="2400" b="1" dirty="0"/>
              <a:t> </a:t>
            </a:r>
            <a:r>
              <a:rPr lang="de-DE" sz="2400" b="1" dirty="0" err="1"/>
              <a:t>evaluation</a:t>
            </a:r>
            <a:r>
              <a:rPr lang="de-DE" sz="2400" dirty="0"/>
              <a:t> and a </a:t>
            </a:r>
            <a:r>
              <a:rPr lang="de-DE" sz="2400" dirty="0" err="1"/>
              <a:t>constrained</a:t>
            </a:r>
            <a:r>
              <a:rPr lang="de-DE" sz="2400" dirty="0"/>
              <a:t> </a:t>
            </a:r>
            <a:r>
              <a:rPr lang="de-DE" sz="2400" b="1" dirty="0" err="1"/>
              <a:t>policy</a:t>
            </a:r>
            <a:r>
              <a:rPr lang="de-DE" sz="2400" b="1" dirty="0"/>
              <a:t> </a:t>
            </a:r>
            <a:r>
              <a:rPr lang="de-DE" sz="2400" b="1" dirty="0" err="1"/>
              <a:t>improvement</a:t>
            </a:r>
            <a:r>
              <a:rPr lang="de-DE" sz="2400" dirty="0"/>
              <a:t> </a:t>
            </a:r>
            <a:r>
              <a:rPr lang="de-DE" sz="2400" dirty="0" err="1"/>
              <a:t>step</a:t>
            </a:r>
            <a:endParaRPr lang="de-DE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2400" dirty="0"/>
              <a:t>Updates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policy</a:t>
            </a:r>
            <a:r>
              <a:rPr lang="de-DE" sz="2400" dirty="0"/>
              <a:t> </a:t>
            </a:r>
            <a:r>
              <a:rPr lang="de-DE" sz="2400" dirty="0" err="1"/>
              <a:t>by</a:t>
            </a:r>
            <a:r>
              <a:rPr lang="de-DE" sz="2400" dirty="0"/>
              <a:t> </a:t>
            </a:r>
            <a:r>
              <a:rPr lang="de-DE" sz="2400" dirty="0" err="1"/>
              <a:t>maximizing</a:t>
            </a:r>
            <a:r>
              <a:rPr lang="de-DE" sz="2400" dirty="0"/>
              <a:t> </a:t>
            </a:r>
            <a:r>
              <a:rPr lang="de-DE" sz="2400" dirty="0" err="1"/>
              <a:t>expected</a:t>
            </a:r>
            <a:r>
              <a:rPr lang="de-DE" sz="2400" dirty="0"/>
              <a:t> </a:t>
            </a:r>
            <a:r>
              <a:rPr lang="de-DE" sz="2400" dirty="0" err="1"/>
              <a:t>return</a:t>
            </a:r>
            <a:r>
              <a:rPr lang="de-DE" sz="2400" dirty="0"/>
              <a:t> </a:t>
            </a:r>
            <a:r>
              <a:rPr lang="de-DE" sz="2400" dirty="0" err="1"/>
              <a:t>while</a:t>
            </a:r>
            <a:r>
              <a:rPr lang="de-DE" sz="2400" dirty="0"/>
              <a:t> </a:t>
            </a:r>
            <a:r>
              <a:rPr lang="de-DE" sz="2400" dirty="0" err="1"/>
              <a:t>limiting</a:t>
            </a:r>
            <a:r>
              <a:rPr lang="de-DE" sz="2400" dirty="0"/>
              <a:t> </a:t>
            </a:r>
            <a:r>
              <a:rPr lang="de-DE" sz="2400" dirty="0" err="1"/>
              <a:t>deviation</a:t>
            </a:r>
            <a:r>
              <a:rPr lang="de-DE" sz="2400" dirty="0"/>
              <a:t> </a:t>
            </a:r>
            <a:r>
              <a:rPr lang="de-DE" sz="2400" dirty="0" err="1"/>
              <a:t>from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previous</a:t>
            </a:r>
            <a:r>
              <a:rPr lang="de-DE" sz="2400" dirty="0"/>
              <a:t> </a:t>
            </a:r>
            <a:r>
              <a:rPr lang="de-DE" sz="2400" dirty="0" err="1"/>
              <a:t>policy</a:t>
            </a:r>
            <a:r>
              <a:rPr lang="de-DE" sz="2400" dirty="0"/>
              <a:t> (KL </a:t>
            </a:r>
            <a:r>
              <a:rPr lang="de-DE" sz="2400" dirty="0" err="1"/>
              <a:t>constraint</a:t>
            </a:r>
            <a:r>
              <a:rPr lang="de-DE" sz="2400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2400" dirty="0"/>
              <a:t>More sample-</a:t>
            </a:r>
            <a:r>
              <a:rPr lang="de-DE" sz="2400" dirty="0" err="1"/>
              <a:t>efficient</a:t>
            </a:r>
            <a:r>
              <a:rPr lang="de-DE" sz="2400" dirty="0"/>
              <a:t> and </a:t>
            </a:r>
            <a:r>
              <a:rPr lang="de-DE" sz="2400" dirty="0" err="1"/>
              <a:t>stable</a:t>
            </a:r>
            <a:r>
              <a:rPr lang="de-DE" sz="2400" dirty="0"/>
              <a:t> </a:t>
            </a:r>
            <a:r>
              <a:rPr lang="de-DE" sz="2400" dirty="0" err="1"/>
              <a:t>than</a:t>
            </a:r>
            <a:r>
              <a:rPr lang="de-DE" sz="2400" dirty="0"/>
              <a:t> on-</a:t>
            </a:r>
            <a:r>
              <a:rPr lang="de-DE" sz="2400" dirty="0" err="1"/>
              <a:t>policy</a:t>
            </a:r>
            <a:r>
              <a:rPr lang="de-DE" sz="2400" dirty="0"/>
              <a:t> </a:t>
            </a:r>
            <a:r>
              <a:rPr lang="de-DE" sz="2400" dirty="0" err="1"/>
              <a:t>methods</a:t>
            </a:r>
            <a:r>
              <a:rPr lang="de-DE" sz="2400" dirty="0"/>
              <a:t> such </a:t>
            </a:r>
            <a:r>
              <a:rPr lang="de-DE" sz="2400" dirty="0" err="1"/>
              <a:t>as</a:t>
            </a:r>
            <a:r>
              <a:rPr lang="de-DE" sz="2400" dirty="0"/>
              <a:t> PPO [3]</a:t>
            </a:r>
            <a:endParaRPr lang="en-US" sz="2400" dirty="0">
              <a:solidFill>
                <a:schemeClr val="dk1"/>
              </a:solidFill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chemeClr val="dk1"/>
              </a:solidFill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 idx="4294967295"/>
          </p:nvPr>
        </p:nvSpPr>
        <p:spPr>
          <a:xfrm>
            <a:off x="1009200" y="4258851"/>
            <a:ext cx="20202300" cy="5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l">
              <a:buSzPts val="1000"/>
            </a:pPr>
            <a:r>
              <a:rPr lang="de-DE" sz="45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Jason Dietrich, Leon Manthey, Niklas Rodenbüsch</a:t>
            </a:r>
            <a:endParaRPr sz="45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" name="Google Shape;22;p3"/>
          <p:cNvCxnSpPr/>
          <p:nvPr/>
        </p:nvCxnSpPr>
        <p:spPr>
          <a:xfrm>
            <a:off x="-11072" y="42548954"/>
            <a:ext cx="30298200" cy="62100"/>
          </a:xfrm>
          <a:prstGeom prst="straightConnector1">
            <a:avLst/>
          </a:prstGeom>
          <a:noFill/>
          <a:ln w="139700" cap="flat" cmpd="sng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ctrTitle" idx="4294967295"/>
          </p:nvPr>
        </p:nvSpPr>
        <p:spPr>
          <a:xfrm rot="-474">
            <a:off x="1009200" y="1829360"/>
            <a:ext cx="28282200" cy="23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de-DE" sz="9600" b="1" dirty="0">
                <a:solidFill>
                  <a:schemeClr val="bg1"/>
                </a:solidFill>
              </a:rPr>
              <a:t>Learning </a:t>
            </a:r>
            <a:r>
              <a:rPr lang="de-DE" sz="9600" b="1" dirty="0" err="1">
                <a:solidFill>
                  <a:schemeClr val="bg1"/>
                </a:solidFill>
              </a:rPr>
              <a:t>to</a:t>
            </a:r>
            <a:r>
              <a:rPr lang="de-DE" sz="9600" b="1" dirty="0">
                <a:solidFill>
                  <a:schemeClr val="bg1"/>
                </a:solidFill>
              </a:rPr>
              <a:t> Score </a:t>
            </a:r>
            <a:r>
              <a:rPr lang="de-DE" sz="9600" b="1" dirty="0" err="1">
                <a:solidFill>
                  <a:schemeClr val="bg1"/>
                </a:solidFill>
              </a:rPr>
              <a:t>with</a:t>
            </a:r>
            <a:r>
              <a:rPr lang="de-DE" sz="9600" b="1" dirty="0">
                <a:solidFill>
                  <a:schemeClr val="bg1"/>
                </a:solidFill>
              </a:rPr>
              <a:t> a Robot Soccer Agent</a:t>
            </a: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30517" y="1971557"/>
            <a:ext cx="847956" cy="847956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15354300" y="40040625"/>
            <a:ext cx="14489100" cy="21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850" tIns="81850" rIns="81850" bIns="81850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200" dirty="0"/>
              <a:t>[1] </a:t>
            </a:r>
            <a:r>
              <a:rPr lang="de-DE" sz="2200" dirty="0"/>
              <a:t>Abdolmaleki, Abbas, et al. "Maximum a posteriori </a:t>
            </a:r>
            <a:r>
              <a:rPr lang="de-DE" sz="2200" dirty="0" err="1"/>
              <a:t>policy</a:t>
            </a:r>
            <a:r>
              <a:rPr lang="de-DE" sz="2200" dirty="0"/>
              <a:t> </a:t>
            </a:r>
            <a:r>
              <a:rPr lang="de-DE" sz="2200" dirty="0" err="1"/>
              <a:t>optimisation</a:t>
            </a:r>
            <a:r>
              <a:rPr lang="de-DE" sz="2200" dirty="0"/>
              <a:t>." </a:t>
            </a:r>
            <a:r>
              <a:rPr lang="de-DE" sz="2200" i="1" dirty="0" err="1"/>
              <a:t>arXiv</a:t>
            </a:r>
            <a:r>
              <a:rPr lang="de-DE" sz="2200" i="1" dirty="0"/>
              <a:t> </a:t>
            </a:r>
            <a:r>
              <a:rPr lang="de-DE" sz="2200" i="1" dirty="0" err="1"/>
              <a:t>preprint</a:t>
            </a:r>
            <a:r>
              <a:rPr lang="de-DE" sz="2200" i="1" dirty="0"/>
              <a:t> arXiv:1806.06920</a:t>
            </a:r>
            <a:r>
              <a:rPr lang="de-DE" sz="2200" dirty="0"/>
              <a:t> (2018).</a:t>
            </a:r>
            <a:endParaRPr sz="2200" dirty="0"/>
          </a:p>
          <a:p>
            <a:pPr lvl="0">
              <a:lnSpc>
                <a:spcPct val="115000"/>
              </a:lnSpc>
            </a:pPr>
            <a:r>
              <a:rPr lang="en-US" sz="2200" dirty="0"/>
              <a:t>[2] </a:t>
            </a:r>
            <a:r>
              <a:rPr lang="de-DE" sz="2200" dirty="0" err="1"/>
              <a:t>Tunyasuvunakool</a:t>
            </a:r>
            <a:r>
              <a:rPr lang="de-DE" sz="2200" dirty="0"/>
              <a:t>, Saran, et al. "</a:t>
            </a:r>
            <a:r>
              <a:rPr lang="de-DE" sz="2200" dirty="0" err="1"/>
              <a:t>dm_control</a:t>
            </a:r>
            <a:r>
              <a:rPr lang="de-DE" sz="2200" dirty="0"/>
              <a:t>: Software and </a:t>
            </a:r>
            <a:r>
              <a:rPr lang="de-DE" sz="2200" dirty="0" err="1"/>
              <a:t>tasks</a:t>
            </a:r>
            <a:r>
              <a:rPr lang="de-DE" sz="2200" dirty="0"/>
              <a:t> </a:t>
            </a:r>
            <a:r>
              <a:rPr lang="de-DE" sz="2200" dirty="0" err="1"/>
              <a:t>for</a:t>
            </a:r>
            <a:r>
              <a:rPr lang="de-DE" sz="2200" dirty="0"/>
              <a:t> </a:t>
            </a:r>
            <a:r>
              <a:rPr lang="de-DE" sz="2200" dirty="0" err="1"/>
              <a:t>continuous</a:t>
            </a:r>
            <a:r>
              <a:rPr lang="de-DE" sz="2200" dirty="0"/>
              <a:t> </a:t>
            </a:r>
            <a:r>
              <a:rPr lang="de-DE" sz="2200" dirty="0" err="1"/>
              <a:t>control</a:t>
            </a:r>
            <a:r>
              <a:rPr lang="de-DE" sz="2200" dirty="0"/>
              <a:t>." </a:t>
            </a:r>
            <a:r>
              <a:rPr lang="de-DE" sz="2200" i="1" dirty="0"/>
              <a:t>Software Impacts</a:t>
            </a:r>
            <a:r>
              <a:rPr lang="de-DE" sz="2200" dirty="0"/>
              <a:t> 6 (2020): 100022.</a:t>
            </a:r>
            <a:endParaRPr sz="2200" dirty="0"/>
          </a:p>
          <a:p>
            <a:pPr lvl="0">
              <a:lnSpc>
                <a:spcPct val="115000"/>
              </a:lnSpc>
            </a:pPr>
            <a:r>
              <a:rPr lang="en-US" sz="2200" dirty="0"/>
              <a:t>[3] </a:t>
            </a:r>
            <a:r>
              <a:rPr lang="de-DE" sz="2200" dirty="0"/>
              <a:t>Schulman, John, et al. "Proximal </a:t>
            </a:r>
            <a:r>
              <a:rPr lang="de-DE" sz="2200" dirty="0" err="1"/>
              <a:t>policy</a:t>
            </a:r>
            <a:r>
              <a:rPr lang="de-DE" sz="2200" dirty="0"/>
              <a:t> </a:t>
            </a:r>
            <a:r>
              <a:rPr lang="de-DE" sz="2200" dirty="0" err="1"/>
              <a:t>optimization</a:t>
            </a:r>
            <a:r>
              <a:rPr lang="de-DE" sz="2200" dirty="0"/>
              <a:t> </a:t>
            </a:r>
            <a:r>
              <a:rPr lang="de-DE" sz="2200" dirty="0" err="1"/>
              <a:t>algorithms</a:t>
            </a:r>
            <a:r>
              <a:rPr lang="de-DE" sz="2200" dirty="0"/>
              <a:t>." </a:t>
            </a:r>
            <a:r>
              <a:rPr lang="de-DE" sz="2200" i="1" dirty="0" err="1"/>
              <a:t>arXiv</a:t>
            </a:r>
            <a:r>
              <a:rPr lang="de-DE" sz="2200" i="1" dirty="0"/>
              <a:t> </a:t>
            </a:r>
            <a:r>
              <a:rPr lang="de-DE" sz="2200" i="1" dirty="0" err="1"/>
              <a:t>preprint</a:t>
            </a:r>
            <a:r>
              <a:rPr lang="de-DE" sz="2200" i="1" dirty="0"/>
              <a:t> arXiv:1707.06347</a:t>
            </a:r>
            <a:r>
              <a:rPr lang="de-DE" sz="2200" dirty="0"/>
              <a:t> (2017).</a:t>
            </a:r>
            <a:endParaRPr sz="2200" dirty="0"/>
          </a:p>
        </p:txBody>
      </p:sp>
      <p:sp>
        <p:nvSpPr>
          <p:cNvPr id="26" name="Google Shape;26;p3"/>
          <p:cNvSpPr txBox="1">
            <a:spLocks noGrp="1"/>
          </p:cNvSpPr>
          <p:nvPr>
            <p:ph type="ctrTitle" idx="4294967295"/>
          </p:nvPr>
        </p:nvSpPr>
        <p:spPr>
          <a:xfrm>
            <a:off x="1009200" y="5044800"/>
            <a:ext cx="202023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 sz="3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University of Freiburg</a:t>
            </a:r>
            <a:endParaRPr sz="36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432562" y="5864390"/>
            <a:ext cx="14489100" cy="16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850" tIns="409250" rIns="81850" bIns="4092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344A9A"/>
                </a:solidFill>
              </a:rPr>
              <a:t>Introduction</a:t>
            </a:r>
            <a:endParaRPr sz="5400" b="1" dirty="0">
              <a:solidFill>
                <a:srgbClr val="344A9A"/>
              </a:solidFill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15354257" y="38534359"/>
            <a:ext cx="4555500" cy="16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850" tIns="409250" rIns="81850" bIns="4092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344A9A"/>
                </a:solidFill>
              </a:rPr>
              <a:t>References</a:t>
            </a:r>
            <a:endParaRPr sz="5400" b="1">
              <a:solidFill>
                <a:srgbClr val="344A9A"/>
              </a:solidFill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32562" y="16697294"/>
            <a:ext cx="29411100" cy="5369700"/>
          </a:xfrm>
          <a:prstGeom prst="roundRect">
            <a:avLst>
              <a:gd name="adj" fmla="val 1566"/>
            </a:avLst>
          </a:prstGeom>
          <a:noFill/>
          <a:ln w="762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850" tIns="81850" rIns="81850" bIns="81850" anchor="t" anchorCtr="0">
            <a:no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dk1"/>
                </a:solidFill>
              </a:rPr>
              <a:t>Implementation of MPO</a:t>
            </a:r>
            <a:br>
              <a:rPr lang="en-US" sz="2400" b="1" dirty="0">
                <a:solidFill>
                  <a:schemeClr val="dk1"/>
                </a:solidFill>
              </a:rPr>
            </a:br>
            <a:r>
              <a:rPr lang="en-US" sz="2400" b="1" dirty="0">
                <a:solidFill>
                  <a:schemeClr val="dk1"/>
                </a:solidFill>
              </a:rPr>
              <a:t>- </a:t>
            </a:r>
            <a:r>
              <a:rPr lang="de-DE" sz="2400" dirty="0"/>
              <a:t>Implement </a:t>
            </a:r>
            <a:r>
              <a:rPr lang="de-DE" sz="2400" dirty="0" err="1"/>
              <a:t>the</a:t>
            </a:r>
            <a:r>
              <a:rPr lang="de-DE" sz="2400" dirty="0"/>
              <a:t> Maximum a Posteriori Policy </a:t>
            </a:r>
            <a:r>
              <a:rPr lang="de-DE" sz="2400" dirty="0" err="1"/>
              <a:t>Optimization</a:t>
            </a:r>
            <a:r>
              <a:rPr lang="de-DE" sz="2400" dirty="0"/>
              <a:t> </a:t>
            </a:r>
            <a:r>
              <a:rPr lang="de-DE" sz="2400" dirty="0" err="1"/>
              <a:t>algorithm</a:t>
            </a:r>
            <a:r>
              <a:rPr lang="de-DE" sz="2400" dirty="0"/>
              <a:t> </a:t>
            </a:r>
            <a:r>
              <a:rPr lang="de-DE" sz="2400" dirty="0" err="1"/>
              <a:t>according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official</a:t>
            </a:r>
            <a:r>
              <a:rPr lang="de-DE" sz="2400" dirty="0"/>
              <a:t> </a:t>
            </a:r>
            <a:r>
              <a:rPr lang="de-DE" sz="2400" dirty="0" err="1"/>
              <a:t>paper</a:t>
            </a:r>
            <a:br>
              <a:rPr lang="de-DE" sz="2400" dirty="0"/>
            </a:br>
            <a:r>
              <a:rPr lang="de-DE" sz="2400" dirty="0"/>
              <a:t>- Use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actor-critic</a:t>
            </a:r>
            <a:r>
              <a:rPr lang="de-DE" sz="2400" dirty="0"/>
              <a:t> </a:t>
            </a:r>
            <a:r>
              <a:rPr lang="de-DE" sz="2400" dirty="0" err="1"/>
              <a:t>formulation</a:t>
            </a:r>
            <a:r>
              <a:rPr lang="de-DE" sz="2400" dirty="0"/>
              <a:t> </a:t>
            </a:r>
            <a:r>
              <a:rPr lang="de-DE" sz="2400" dirty="0" err="1"/>
              <a:t>with</a:t>
            </a:r>
            <a:r>
              <a:rPr lang="de-DE" sz="2400" dirty="0"/>
              <a:t> </a:t>
            </a:r>
            <a:r>
              <a:rPr lang="de-DE" sz="2400" dirty="0" err="1"/>
              <a:t>alternating</a:t>
            </a:r>
            <a:r>
              <a:rPr lang="de-DE" sz="2400" dirty="0"/>
              <a:t> </a:t>
            </a:r>
            <a:r>
              <a:rPr lang="de-DE" sz="2400" dirty="0" err="1"/>
              <a:t>policy</a:t>
            </a:r>
            <a:r>
              <a:rPr lang="de-DE" sz="2400" dirty="0"/>
              <a:t> and </a:t>
            </a:r>
            <a:r>
              <a:rPr lang="de-DE" sz="2400" dirty="0" err="1"/>
              <a:t>value</a:t>
            </a:r>
            <a:r>
              <a:rPr lang="de-DE" sz="2400" dirty="0"/>
              <a:t> </a:t>
            </a:r>
            <a:r>
              <a:rPr lang="de-DE" sz="2400" dirty="0" err="1"/>
              <a:t>updates</a:t>
            </a:r>
            <a:br>
              <a:rPr lang="de-DE" sz="2400" dirty="0"/>
            </a:br>
            <a:r>
              <a:rPr lang="de-DE" sz="2400" dirty="0"/>
              <a:t>- </a:t>
            </a:r>
            <a:r>
              <a:rPr lang="de-DE" sz="2400" dirty="0" err="1"/>
              <a:t>Verify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implementation</a:t>
            </a:r>
            <a:r>
              <a:rPr lang="de-DE" sz="2400" dirty="0"/>
              <a:t> on </a:t>
            </a:r>
            <a:r>
              <a:rPr lang="de-DE" sz="2400" dirty="0" err="1"/>
              <a:t>standard</a:t>
            </a:r>
            <a:r>
              <a:rPr lang="de-DE" sz="2400" dirty="0"/>
              <a:t> </a:t>
            </a:r>
            <a:r>
              <a:rPr lang="de-DE" sz="2400" dirty="0" err="1"/>
              <a:t>continuous-control</a:t>
            </a:r>
            <a:r>
              <a:rPr lang="de-DE" sz="2400" dirty="0"/>
              <a:t> </a:t>
            </a:r>
            <a:r>
              <a:rPr lang="de-DE" sz="2400" dirty="0" err="1"/>
              <a:t>benchmarks</a:t>
            </a:r>
            <a:r>
              <a:rPr lang="de-DE" sz="2400" dirty="0"/>
              <a:t> (e.g. </a:t>
            </a:r>
            <a:r>
              <a:rPr lang="de-DE" sz="2400" dirty="0" err="1"/>
              <a:t>cartpole</a:t>
            </a:r>
            <a:r>
              <a:rPr lang="de-DE" sz="2400" dirty="0"/>
              <a:t> </a:t>
            </a:r>
            <a:r>
              <a:rPr lang="de-DE" sz="2400" dirty="0" err="1"/>
              <a:t>swingup</a:t>
            </a:r>
            <a:r>
              <a:rPr lang="de-DE" sz="2400" dirty="0"/>
              <a:t>)</a:t>
            </a:r>
            <a:endParaRPr lang="en-US" sz="2400" b="1" dirty="0">
              <a:solidFill>
                <a:schemeClr val="dk1"/>
              </a:solidFill>
            </a:endParaRPr>
          </a:p>
          <a:p>
            <a:pPr marL="457200" lvl="5" indent="-4572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dk1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dk1"/>
                </a:solidFill>
              </a:rPr>
              <a:t>Curriculum Learning</a:t>
            </a:r>
            <a:br>
              <a:rPr lang="en-US" sz="2400" b="1" dirty="0">
                <a:solidFill>
                  <a:schemeClr val="dk1"/>
                </a:solidFill>
              </a:rPr>
            </a:br>
            <a:r>
              <a:rPr lang="en-US" sz="2400" b="1" dirty="0">
                <a:solidFill>
                  <a:schemeClr val="dk1"/>
                </a:solidFill>
              </a:rPr>
              <a:t>- </a:t>
            </a:r>
            <a:r>
              <a:rPr lang="en-US" sz="2400" dirty="0">
                <a:solidFill>
                  <a:schemeClr val="dk1"/>
                </a:solidFill>
              </a:rPr>
              <a:t>Train agent on </a:t>
            </a:r>
            <a:r>
              <a:rPr lang="en-US" sz="2400" dirty="0" err="1">
                <a:solidFill>
                  <a:schemeClr val="dk1"/>
                </a:solidFill>
              </a:rPr>
              <a:t>dm_control</a:t>
            </a:r>
            <a:r>
              <a:rPr lang="en-US" sz="2400" dirty="0">
                <a:solidFill>
                  <a:schemeClr val="dk1"/>
                </a:solidFill>
              </a:rPr>
              <a:t> native tasks to validate correctness</a:t>
            </a:r>
            <a:br>
              <a:rPr lang="en-US" sz="2400" dirty="0">
                <a:solidFill>
                  <a:schemeClr val="dk1"/>
                </a:solidFill>
              </a:rPr>
            </a:br>
            <a:r>
              <a:rPr lang="en-US" sz="2400" dirty="0">
                <a:solidFill>
                  <a:schemeClr val="dk1"/>
                </a:solidFill>
              </a:rPr>
              <a:t>- Increase task complexity incrementally </a:t>
            </a:r>
            <a:r>
              <a:rPr lang="de-DE" sz="2400" dirty="0" err="1"/>
              <a:t>by</a:t>
            </a:r>
            <a:r>
              <a:rPr lang="de-DE" sz="2400" dirty="0"/>
              <a:t> </a:t>
            </a:r>
            <a:r>
              <a:rPr lang="de-DE" sz="2400" dirty="0" err="1"/>
              <a:t>introducing</a:t>
            </a:r>
            <a:r>
              <a:rPr lang="de-DE" sz="2400" dirty="0"/>
              <a:t> </a:t>
            </a:r>
            <a:r>
              <a:rPr lang="de-DE" sz="2400" dirty="0" err="1"/>
              <a:t>custom</a:t>
            </a:r>
            <a:r>
              <a:rPr lang="de-DE" sz="2400" dirty="0"/>
              <a:t> </a:t>
            </a:r>
            <a:r>
              <a:rPr lang="de-DE" sz="2400" dirty="0" err="1"/>
              <a:t>environments</a:t>
            </a:r>
            <a:r>
              <a:rPr lang="de-DE" sz="2400" dirty="0"/>
              <a:t> </a:t>
            </a:r>
            <a:r>
              <a:rPr lang="de-DE" sz="2400" dirty="0" err="1"/>
              <a:t>that</a:t>
            </a:r>
            <a:r>
              <a:rPr lang="de-DE" sz="2400" dirty="0"/>
              <a:t> </a:t>
            </a:r>
            <a:r>
              <a:rPr lang="de-DE" sz="2400" dirty="0" err="1"/>
              <a:t>require</a:t>
            </a:r>
            <a:r>
              <a:rPr lang="de-DE" sz="2400" dirty="0"/>
              <a:t> </a:t>
            </a:r>
            <a:r>
              <a:rPr lang="de-DE" sz="2400" dirty="0" err="1"/>
              <a:t>more</a:t>
            </a:r>
            <a:r>
              <a:rPr lang="de-DE" sz="2400" dirty="0"/>
              <a:t> sophisticated </a:t>
            </a:r>
            <a:r>
              <a:rPr lang="de-DE" sz="2400" dirty="0" err="1"/>
              <a:t>control</a:t>
            </a:r>
            <a:br>
              <a:rPr lang="de-DE" sz="2400" dirty="0"/>
            </a:br>
            <a:r>
              <a:rPr lang="de-DE" sz="2400" dirty="0"/>
              <a:t>- </a:t>
            </a:r>
            <a:r>
              <a:rPr lang="de-DE" sz="2400" dirty="0" err="1"/>
              <a:t>Verify</a:t>
            </a:r>
            <a:r>
              <a:rPr lang="de-DE" sz="2400" dirty="0"/>
              <a:t> </a:t>
            </a:r>
            <a:r>
              <a:rPr lang="de-DE" sz="2400" dirty="0" err="1"/>
              <a:t>if</a:t>
            </a:r>
            <a:r>
              <a:rPr lang="de-DE" sz="2400" dirty="0"/>
              <a:t> </a:t>
            </a:r>
            <a:r>
              <a:rPr lang="de-DE" sz="2400" dirty="0" err="1"/>
              <a:t>policy</a:t>
            </a:r>
            <a:r>
              <a:rPr lang="de-DE" sz="2400" dirty="0"/>
              <a:t> </a:t>
            </a:r>
            <a:r>
              <a:rPr lang="de-DE" sz="2400" dirty="0" err="1"/>
              <a:t>can</a:t>
            </a:r>
            <a:r>
              <a:rPr lang="de-DE" sz="2400" dirty="0"/>
              <a:t> </a:t>
            </a:r>
            <a:r>
              <a:rPr lang="de-DE" sz="2400" dirty="0" err="1"/>
              <a:t>learn</a:t>
            </a:r>
            <a:r>
              <a:rPr lang="de-DE" sz="2400" dirty="0"/>
              <a:t> intermediate </a:t>
            </a:r>
            <a:r>
              <a:rPr lang="de-DE" sz="2400" dirty="0" err="1"/>
              <a:t>tasks</a:t>
            </a:r>
            <a:r>
              <a:rPr lang="de-DE" sz="2400" dirty="0"/>
              <a:t>, </a:t>
            </a:r>
            <a:r>
              <a:rPr lang="de-DE" sz="2400" dirty="0" err="1"/>
              <a:t>by</a:t>
            </a:r>
            <a:r>
              <a:rPr lang="de-DE" sz="2400" dirty="0"/>
              <a:t> </a:t>
            </a:r>
            <a:r>
              <a:rPr lang="de-DE" sz="2400" dirty="0" err="1"/>
              <a:t>progressing</a:t>
            </a:r>
            <a:r>
              <a:rPr lang="de-DE" sz="2400" dirty="0"/>
              <a:t> </a:t>
            </a:r>
            <a:r>
              <a:rPr lang="de-DE" sz="2400" dirty="0" err="1"/>
              <a:t>from</a:t>
            </a:r>
            <a:r>
              <a:rPr lang="de-DE" sz="2400" dirty="0"/>
              <a:t> </a:t>
            </a:r>
            <a:r>
              <a:rPr lang="de-DE" sz="2400" dirty="0" err="1"/>
              <a:t>simplified</a:t>
            </a:r>
            <a:r>
              <a:rPr lang="de-DE" sz="2400" dirty="0"/>
              <a:t> </a:t>
            </a:r>
            <a:r>
              <a:rPr lang="de-DE" sz="2400" dirty="0" err="1"/>
              <a:t>soccer-related</a:t>
            </a:r>
            <a:r>
              <a:rPr lang="de-DE" sz="2400" dirty="0"/>
              <a:t> </a:t>
            </a:r>
            <a:r>
              <a:rPr lang="de-DE" sz="2400" dirty="0" err="1"/>
              <a:t>environments</a:t>
            </a:r>
            <a:r>
              <a:rPr lang="de-DE" sz="2400" dirty="0"/>
              <a:t> (e.g. </a:t>
            </a:r>
            <a:r>
              <a:rPr lang="de-DE" sz="2400" dirty="0" err="1"/>
              <a:t>one</a:t>
            </a:r>
            <a:r>
              <a:rPr lang="de-DE" sz="2400" dirty="0"/>
              <a:t>-joint stick man)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full</a:t>
            </a:r>
            <a:r>
              <a:rPr lang="de-DE" sz="2400" dirty="0"/>
              <a:t> humanoid </a:t>
            </a:r>
            <a:r>
              <a:rPr lang="de-DE" sz="2400" dirty="0" err="1"/>
              <a:t>soccer</a:t>
            </a:r>
            <a:r>
              <a:rPr lang="de-DE" sz="2400" dirty="0"/>
              <a:t> </a:t>
            </a:r>
            <a:r>
              <a:rPr lang="de-DE" sz="2400" dirty="0" err="1"/>
              <a:t>task</a:t>
            </a:r>
            <a:br>
              <a:rPr lang="en-US" sz="2400" b="1" dirty="0">
                <a:solidFill>
                  <a:schemeClr val="dk1"/>
                </a:solidFill>
              </a:rPr>
            </a:br>
            <a:endParaRPr lang="en-US" sz="2400" b="1" dirty="0">
              <a:solidFill>
                <a:schemeClr val="dk1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dk1"/>
                </a:solidFill>
              </a:rPr>
              <a:t>Robot Soccer Training</a:t>
            </a:r>
            <a:br>
              <a:rPr lang="en-US" sz="2400" b="1" dirty="0">
                <a:solidFill>
                  <a:schemeClr val="dk1"/>
                </a:solidFill>
              </a:rPr>
            </a:br>
            <a:r>
              <a:rPr lang="en-US" sz="2400" b="1" dirty="0">
                <a:solidFill>
                  <a:schemeClr val="dk1"/>
                </a:solidFill>
              </a:rPr>
              <a:t>- </a:t>
            </a:r>
            <a:r>
              <a:rPr lang="de-DE" sz="2400" dirty="0"/>
              <a:t>Train </a:t>
            </a:r>
            <a:r>
              <a:rPr lang="de-DE" sz="2400" dirty="0" err="1"/>
              <a:t>the</a:t>
            </a:r>
            <a:r>
              <a:rPr lang="de-DE" sz="2400" dirty="0"/>
              <a:t> final </a:t>
            </a:r>
            <a:r>
              <a:rPr lang="de-DE" sz="2400" dirty="0" err="1"/>
              <a:t>policy</a:t>
            </a:r>
            <a:r>
              <a:rPr lang="de-DE" sz="2400" dirty="0"/>
              <a:t> in </a:t>
            </a:r>
            <a:r>
              <a:rPr lang="de-DE" sz="2400" dirty="0" err="1"/>
              <a:t>the</a:t>
            </a:r>
            <a:r>
              <a:rPr lang="de-DE" sz="2400" dirty="0"/>
              <a:t> DeepMind Control Soccer </a:t>
            </a:r>
            <a:r>
              <a:rPr lang="de-DE" sz="2400" dirty="0" err="1"/>
              <a:t>environment</a:t>
            </a:r>
            <a:br>
              <a:rPr lang="de-DE" sz="2400" dirty="0"/>
            </a:br>
            <a:r>
              <a:rPr lang="de-DE" sz="2400" dirty="0"/>
              <a:t>- </a:t>
            </a:r>
            <a:r>
              <a:rPr lang="de-DE" sz="2400" dirty="0" err="1"/>
              <a:t>Evaluate</a:t>
            </a:r>
            <a:r>
              <a:rPr lang="de-DE" sz="2400" dirty="0"/>
              <a:t> </a:t>
            </a:r>
            <a:r>
              <a:rPr lang="de-DE" sz="2400" dirty="0" err="1"/>
              <a:t>learning</a:t>
            </a:r>
            <a:r>
              <a:rPr lang="de-DE" sz="2400" dirty="0"/>
              <a:t> </a:t>
            </a:r>
            <a:r>
              <a:rPr lang="de-DE" sz="2400" dirty="0" err="1"/>
              <a:t>through</a:t>
            </a:r>
            <a:r>
              <a:rPr lang="de-DE" sz="2400" dirty="0"/>
              <a:t> qualitative </a:t>
            </a:r>
            <a:r>
              <a:rPr lang="de-DE" sz="2400" dirty="0" err="1"/>
              <a:t>behavior</a:t>
            </a:r>
            <a:r>
              <a:rPr lang="de-DE" sz="2400" dirty="0"/>
              <a:t> (</a:t>
            </a:r>
            <a:r>
              <a:rPr lang="de-DE" sz="2400" dirty="0" err="1"/>
              <a:t>video</a:t>
            </a:r>
            <a:r>
              <a:rPr lang="de-DE" sz="2400" dirty="0"/>
              <a:t> </a:t>
            </a:r>
            <a:r>
              <a:rPr lang="de-DE" sz="2400" dirty="0" err="1"/>
              <a:t>frames</a:t>
            </a:r>
            <a:r>
              <a:rPr lang="de-DE" sz="2400" dirty="0"/>
              <a:t>) and quantitative </a:t>
            </a:r>
            <a:r>
              <a:rPr lang="de-DE" sz="2400" dirty="0" err="1"/>
              <a:t>metrics</a:t>
            </a:r>
            <a:r>
              <a:rPr lang="de-DE" sz="2400" dirty="0"/>
              <a:t> (</a:t>
            </a:r>
            <a:r>
              <a:rPr lang="de-DE" sz="2400" dirty="0" err="1"/>
              <a:t>episode</a:t>
            </a:r>
            <a:r>
              <a:rPr lang="de-DE" sz="2400" dirty="0"/>
              <a:t> </a:t>
            </a:r>
            <a:r>
              <a:rPr lang="de-DE" sz="2400" dirty="0" err="1"/>
              <a:t>returns</a:t>
            </a:r>
            <a:r>
              <a:rPr lang="de-DE" sz="2400" dirty="0"/>
              <a:t>)</a:t>
            </a:r>
            <a:br>
              <a:rPr lang="de-DE" sz="2400" dirty="0"/>
            </a:br>
            <a:r>
              <a:rPr lang="de-DE" sz="2400" dirty="0"/>
              <a:t>- Analyze </a:t>
            </a:r>
            <a:r>
              <a:rPr lang="de-DE" sz="2400" dirty="0" err="1"/>
              <a:t>whether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agent</a:t>
            </a:r>
            <a:r>
              <a:rPr lang="de-DE" sz="2400" dirty="0"/>
              <a:t> </a:t>
            </a:r>
            <a:r>
              <a:rPr lang="de-DE" sz="2400" dirty="0" err="1"/>
              <a:t>acquires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necessary</a:t>
            </a:r>
            <a:r>
              <a:rPr lang="de-DE" sz="2400" dirty="0"/>
              <a:t> </a:t>
            </a:r>
            <a:r>
              <a:rPr lang="de-DE" sz="2400" dirty="0" err="1"/>
              <a:t>skills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consistently</a:t>
            </a:r>
            <a:r>
              <a:rPr lang="de-DE" sz="2400" dirty="0"/>
              <a:t> </a:t>
            </a:r>
            <a:r>
              <a:rPr lang="de-DE" sz="2400" dirty="0" err="1"/>
              <a:t>approach</a:t>
            </a:r>
            <a:r>
              <a:rPr lang="de-DE" sz="2400" dirty="0"/>
              <a:t>, </a:t>
            </a:r>
            <a:r>
              <a:rPr lang="de-DE" sz="2400" dirty="0" err="1"/>
              <a:t>control</a:t>
            </a:r>
            <a:r>
              <a:rPr lang="de-DE" sz="2400" dirty="0"/>
              <a:t>, and score </a:t>
            </a:r>
            <a:r>
              <a:rPr lang="de-DE" sz="2400" dirty="0" err="1"/>
              <a:t>with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ball</a:t>
            </a:r>
            <a:endParaRPr lang="en-US" sz="2400" b="1" dirty="0">
              <a:solidFill>
                <a:schemeClr val="dk1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400" b="1" dirty="0">
              <a:solidFill>
                <a:schemeClr val="dk1"/>
              </a:solidFill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432467" y="15231791"/>
            <a:ext cx="4555500" cy="16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850" tIns="409250" rIns="81850" bIns="4092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344A9A"/>
                </a:solidFill>
              </a:rPr>
              <a:t>Method</a:t>
            </a:r>
            <a:endParaRPr sz="5400" b="1">
              <a:solidFill>
                <a:srgbClr val="344A9A"/>
              </a:solidFill>
            </a:endParaRPr>
          </a:p>
        </p:txBody>
      </p:sp>
      <p:pic>
        <p:nvPicPr>
          <p:cNvPr id="31" name="Google Shape;31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514" y="466880"/>
            <a:ext cx="6604559" cy="72882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/>
          <p:nvPr/>
        </p:nvSpPr>
        <p:spPr>
          <a:xfrm>
            <a:off x="432553" y="41723514"/>
            <a:ext cx="144891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850" tIns="81850" rIns="81850" bIns="81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3100" b="1" dirty="0">
                <a:solidFill>
                  <a:schemeClr val="dk1"/>
                </a:solidFill>
              </a:rPr>
              <a:t>Acknowledgement: Huge thank you to Julien </a:t>
            </a:r>
            <a:r>
              <a:rPr lang="en-US" sz="3100" b="1" dirty="0" err="1">
                <a:solidFill>
                  <a:schemeClr val="dk1"/>
                </a:solidFill>
              </a:rPr>
              <a:t>Brosseit</a:t>
            </a:r>
            <a:r>
              <a:rPr lang="en-US" sz="3100" b="1" dirty="0">
                <a:solidFill>
                  <a:schemeClr val="dk1"/>
                </a:solidFill>
              </a:rPr>
              <a:t> for </a:t>
            </a:r>
            <a:r>
              <a:rPr lang="en-US" sz="3100" b="1">
                <a:solidFill>
                  <a:schemeClr val="dk1"/>
                </a:solidFill>
              </a:rPr>
              <a:t>his support!</a:t>
            </a:r>
            <a:endParaRPr sz="3100" dirty="0">
              <a:solidFill>
                <a:schemeClr val="dk1"/>
              </a:solidFill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15354281" y="23532576"/>
            <a:ext cx="14489100" cy="15001800"/>
          </a:xfrm>
          <a:prstGeom prst="roundRect">
            <a:avLst>
              <a:gd name="adj" fmla="val 1566"/>
            </a:avLst>
          </a:prstGeom>
          <a:noFill/>
          <a:ln w="762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850" tIns="81850" rIns="81850" bIns="81850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1" dirty="0"/>
              <a:t>Cartpole (</a:t>
            </a:r>
            <a:r>
              <a:rPr lang="en-US" sz="2800" b="1" dirty="0" err="1"/>
              <a:t>Swingup</a:t>
            </a:r>
            <a:r>
              <a:rPr lang="en-US" sz="2800" b="1" dirty="0"/>
              <a:t>)</a:t>
            </a:r>
            <a:br>
              <a:rPr lang="en-US" sz="2800" b="1" dirty="0"/>
            </a:br>
            <a:br>
              <a:rPr lang="en-US" sz="2800" b="1" dirty="0"/>
            </a:br>
            <a:br>
              <a:rPr lang="en-US" sz="2800" b="1" dirty="0"/>
            </a:br>
            <a:br>
              <a:rPr lang="en-US" sz="2800" b="1" dirty="0"/>
            </a:br>
            <a:endParaRPr lang="en-US" sz="2800" b="1"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1" dirty="0"/>
              <a:t>Cartpole (Ball Kick)</a:t>
            </a:r>
            <a:br>
              <a:rPr lang="en-US" sz="2800" b="1" dirty="0"/>
            </a:br>
            <a:br>
              <a:rPr lang="en-US" sz="2800" b="1" dirty="0"/>
            </a:br>
            <a:br>
              <a:rPr lang="en-US" sz="2800" b="1" dirty="0"/>
            </a:br>
            <a:br>
              <a:rPr lang="en-US" sz="2800" b="1" dirty="0"/>
            </a:b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r>
              <a:rPr lang="en-US" sz="2800" b="1" dirty="0"/>
              <a:t>Stickman (Stand </a:t>
            </a:r>
            <a:r>
              <a:rPr lang="en-US" sz="2800" b="1" dirty="0">
                <a:sym typeface="Wingdings" panose="05000000000000000000" pitchFamily="2" charset="2"/>
              </a:rPr>
              <a:t> </a:t>
            </a:r>
            <a:r>
              <a:rPr lang="en-US" sz="2800" b="1" dirty="0"/>
              <a:t>Walk/Run)</a:t>
            </a:r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800" b="1"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800" b="1"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800" b="1"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800" b="1"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800" b="1"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1" dirty="0"/>
              <a:t>Humanoid (Stand </a:t>
            </a:r>
            <a:r>
              <a:rPr lang="en-US" sz="2800" b="1" dirty="0">
                <a:sym typeface="Wingdings" panose="05000000000000000000" pitchFamily="2" charset="2"/>
              </a:rPr>
              <a:t> </a:t>
            </a:r>
            <a:r>
              <a:rPr lang="en-US" sz="2800" b="1" dirty="0"/>
              <a:t>Walk/Run)</a:t>
            </a: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800" b="1"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800" b="1"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800" b="1"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800" b="1"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800" b="1"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800" b="1"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800" b="1"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1" dirty="0"/>
              <a:t>DeepMind Soccer (all tasks combined)</a:t>
            </a: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800" b="1"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800" b="1"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800" b="1" dirty="0"/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(ADD VIDEO FRAMES OF EACH TASK EVOLUTION </a:t>
            </a:r>
            <a:r>
              <a:rPr lang="en-US" sz="2800" b="1" dirty="0">
                <a:sym typeface="Wingdings" panose="05000000000000000000" pitchFamily="2" charset="2"/>
              </a:rPr>
              <a:t> Also show on laptop though</a:t>
            </a:r>
            <a:r>
              <a:rPr lang="en-US" sz="2800" b="1" dirty="0"/>
              <a:t>)</a:t>
            </a:r>
            <a:endParaRPr sz="2800" b="1" dirty="0"/>
          </a:p>
        </p:txBody>
      </p:sp>
      <p:sp>
        <p:nvSpPr>
          <p:cNvPr id="34" name="Google Shape;34;p3"/>
          <p:cNvSpPr txBox="1"/>
          <p:nvPr/>
        </p:nvSpPr>
        <p:spPr>
          <a:xfrm>
            <a:off x="15354233" y="22067074"/>
            <a:ext cx="14489400" cy="16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850" tIns="409250" rIns="81850" bIns="4092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344A9A"/>
                </a:solidFill>
              </a:rPr>
              <a:t>Qualitative Results</a:t>
            </a:r>
            <a:endParaRPr sz="5400" b="1" dirty="0">
              <a:solidFill>
                <a:srgbClr val="344A9A"/>
              </a:solidFill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432675" y="23527175"/>
            <a:ext cx="14489100" cy="18013500"/>
          </a:xfrm>
          <a:prstGeom prst="roundRect">
            <a:avLst>
              <a:gd name="adj" fmla="val 1566"/>
            </a:avLst>
          </a:prstGeom>
          <a:noFill/>
          <a:ln w="762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850" tIns="81850" rIns="81850" bIns="81850" anchor="t" anchorCtr="0">
            <a:no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800" b="1" dirty="0"/>
              <a:t>Cartpole (</a:t>
            </a:r>
            <a:r>
              <a:rPr lang="en-US" sz="2800" b="1" dirty="0" err="1"/>
              <a:t>Swingup</a:t>
            </a:r>
            <a:r>
              <a:rPr lang="en-US" sz="2800" b="1" dirty="0"/>
              <a:t>)</a:t>
            </a:r>
            <a:br>
              <a:rPr lang="en-US" sz="2800" b="1" dirty="0"/>
            </a:br>
            <a:br>
              <a:rPr lang="en-US" sz="2800" b="1" dirty="0"/>
            </a:br>
            <a:br>
              <a:rPr lang="en-US" sz="2800" b="1" dirty="0"/>
            </a:br>
            <a:br>
              <a:rPr lang="en-US" sz="2800" b="1" dirty="0"/>
            </a:b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r>
              <a:rPr lang="en-US" sz="2800" b="1" dirty="0"/>
              <a:t>Cartpole (Ball Kick)</a:t>
            </a:r>
            <a:br>
              <a:rPr lang="en-US" sz="2800" b="1" dirty="0"/>
            </a:br>
            <a:br>
              <a:rPr lang="en-US" sz="2800" b="1" dirty="0"/>
            </a:br>
            <a:br>
              <a:rPr lang="en-US" sz="2800" b="1" dirty="0"/>
            </a:br>
            <a:br>
              <a:rPr lang="en-US" sz="2800" b="1" dirty="0"/>
            </a:b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r>
              <a:rPr lang="en-US" sz="2800" b="1" dirty="0"/>
              <a:t>Stickman (Stand </a:t>
            </a:r>
            <a:r>
              <a:rPr lang="en-US" sz="2800" b="1" dirty="0">
                <a:sym typeface="Wingdings" panose="05000000000000000000" pitchFamily="2" charset="2"/>
              </a:rPr>
              <a:t> </a:t>
            </a:r>
            <a:r>
              <a:rPr lang="en-US" sz="2800" b="1" dirty="0"/>
              <a:t>Walk/Run)</a:t>
            </a:r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r>
              <a:rPr lang="en-US" sz="2800" b="1" dirty="0"/>
              <a:t>Humanoid (Stand </a:t>
            </a:r>
            <a:r>
              <a:rPr lang="en-US" sz="2800" b="1" dirty="0">
                <a:sym typeface="Wingdings" panose="05000000000000000000" pitchFamily="2" charset="2"/>
              </a:rPr>
              <a:t> </a:t>
            </a:r>
            <a:r>
              <a:rPr lang="en-US" sz="2800" b="1" dirty="0"/>
              <a:t>Walk/Run)</a:t>
            </a:r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r>
              <a:rPr lang="en-US" sz="2800" b="1" dirty="0"/>
              <a:t>DeepMind Soccer (all tasks combined)</a:t>
            </a:r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marL="457200" lvl="0" indent="-457200">
              <a:buFont typeface="+mj-lt"/>
              <a:buAutoNum type="arabicPeriod"/>
            </a:pPr>
            <a:endParaRPr lang="en-US" sz="2800" b="1" dirty="0"/>
          </a:p>
          <a:p>
            <a:pPr lvl="0"/>
            <a:r>
              <a:rPr lang="en-US" sz="2800" b="1" dirty="0"/>
              <a:t>(SHOW LEARNING CURVES [episode reward, critic loss, maybe compare to baseline method for one task], …)</a:t>
            </a:r>
          </a:p>
        </p:txBody>
      </p:sp>
      <p:sp>
        <p:nvSpPr>
          <p:cNvPr id="36" name="Google Shape;36;p3"/>
          <p:cNvSpPr txBox="1"/>
          <p:nvPr/>
        </p:nvSpPr>
        <p:spPr>
          <a:xfrm>
            <a:off x="432633" y="22061678"/>
            <a:ext cx="14489100" cy="16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850" tIns="409250" rIns="81850" bIns="4092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344A9A"/>
                </a:solidFill>
              </a:rPr>
              <a:t>Quantitative Results</a:t>
            </a:r>
            <a:endParaRPr sz="5400" b="1" dirty="0">
              <a:solidFill>
                <a:srgbClr val="344A9A"/>
              </a:solidFill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21007286" y="531980"/>
            <a:ext cx="8836200" cy="5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850" tIns="81850" rIns="81850" bIns="81850" anchor="ctr" anchorCtr="0">
            <a:noAutofit/>
          </a:bodyPr>
          <a:lstStyle/>
          <a:p>
            <a:pPr lvl="0" algn="r"/>
            <a:r>
              <a:rPr lang="en-US" sz="3600" dirty="0">
                <a:solidFill>
                  <a:srgbClr val="344A9A"/>
                </a:solidFill>
                <a:latin typeface="Verdana"/>
                <a:ea typeface="Verdana"/>
                <a:cs typeface="Verdana"/>
                <a:sym typeface="Verdana"/>
              </a:rPr>
              <a:t>https://github.com/NI-R0/NR9</a:t>
            </a:r>
            <a:endParaRPr sz="3600" dirty="0">
              <a:solidFill>
                <a:srgbClr val="344A9A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" name="Google Shape;38;p3"/>
          <p:cNvSpPr txBox="1">
            <a:spLocks noGrp="1"/>
          </p:cNvSpPr>
          <p:nvPr>
            <p:ph type="ctrTitle" idx="4294967295"/>
          </p:nvPr>
        </p:nvSpPr>
        <p:spPr>
          <a:xfrm>
            <a:off x="9457300" y="4318575"/>
            <a:ext cx="19834200" cy="5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>
              <a:buSzPts val="1000"/>
            </a:pPr>
            <a:r>
              <a:rPr lang="en-US" sz="45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Julien </a:t>
            </a:r>
            <a:r>
              <a:rPr lang="en-US" sz="45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Brosseit</a:t>
            </a:r>
            <a:endParaRPr sz="45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C16333-634B-0121-1541-C9322BEB6F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05312" y="7618481"/>
            <a:ext cx="4873161" cy="36280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8ECF03C-E305-EF10-056B-4C03ACEF840E}"/>
              </a:ext>
            </a:extLst>
          </p:cNvPr>
          <p:cNvSpPr/>
          <p:nvPr/>
        </p:nvSpPr>
        <p:spPr>
          <a:xfrm>
            <a:off x="23505311" y="11276842"/>
            <a:ext cx="4873161" cy="3628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MPO </a:t>
            </a:r>
            <a:r>
              <a:rPr lang="en-US" sz="2400" dirty="0" err="1"/>
              <a:t>Visuaization</a:t>
            </a:r>
            <a:r>
              <a:rPr lang="en-US" sz="2400" dirty="0"/>
              <a:t> (</a:t>
            </a:r>
            <a:r>
              <a:rPr lang="en-US" sz="2400" dirty="0" err="1"/>
              <a:t>e,g</a:t>
            </a:r>
            <a:r>
              <a:rPr lang="en-US" sz="2400" dirty="0"/>
              <a:t>, flowchart)</a:t>
            </a:r>
            <a:endParaRPr lang="de-DE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_Poster03_E1_Office_A0_RGB_Office2002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</Words>
  <Application>Microsoft Office PowerPoint</Application>
  <PresentationFormat>Custom</PresentationFormat>
  <Paragraphs>94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Verdana</vt:lpstr>
      <vt:lpstr>Wingdings</vt:lpstr>
      <vt:lpstr>Uni_Poster03_E1_Office_A0_RGB_Office2002</vt:lpstr>
      <vt:lpstr>Jason Dietrich, Leon Manthey, Niklas Rodenbüsch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Niklas Rodenbüsch</dc:creator>
  <cp:lastModifiedBy>Niklas Rodenbuesch</cp:lastModifiedBy>
  <cp:revision>11</cp:revision>
  <dcterms:modified xsi:type="dcterms:W3CDTF">2026-07-27T08:56:10Z</dcterms:modified>
</cp:coreProperties>
</file>