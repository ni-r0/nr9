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3"/>
  </p:notesMasterIdLst>
  <p:sldIdLst>
    <p:sldId id="256" r:id="rId2"/>
  </p:sldIdLst>
  <p:sldSz cx="30275213" cy="42803763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72">
          <p15:clr>
            <a:srgbClr val="747775"/>
          </p15:clr>
        </p15:guide>
        <p15:guide id="2" pos="9536">
          <p15:clr>
            <a:schemeClr val="accent3"/>
          </p15:clr>
        </p15:guide>
        <p15:guide id="3" pos="18799">
          <p15:clr>
            <a:srgbClr val="747775"/>
          </p15:clr>
        </p15:guide>
        <p15:guide id="4" pos="9400">
          <p15:clr>
            <a:srgbClr val="747775"/>
          </p15:clr>
        </p15:guide>
        <p15:guide id="5" pos="9672">
          <p15:clr>
            <a:srgbClr val="747775"/>
          </p15:clr>
        </p15:guide>
        <p15:guide id="6" orient="horz" pos="52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28" y="-2728"/>
      </p:cViewPr>
      <p:guideLst>
        <p:guide pos="272"/>
        <p:guide pos="9536"/>
        <p:guide pos="18799"/>
        <p:guide pos="9400"/>
        <p:guide pos="9672"/>
        <p:guide orient="horz" pos="5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384438" y="720725"/>
            <a:ext cx="2546400" cy="3600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720725"/>
            <a:ext cx="254635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" name="Google Shape;15;p1:notes"/>
          <p:cNvSpPr txBox="1">
            <a:spLocks noGrp="1"/>
          </p:cNvSpPr>
          <p:nvPr>
            <p:ph type="body" idx="1"/>
          </p:nvPr>
        </p:nvSpPr>
        <p:spPr>
          <a:xfrm>
            <a:off x="731838" y="4560888"/>
            <a:ext cx="5851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/>
              <a:t>TODOs: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check images for resolution before printing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If you open source your code (check with supervisor):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Replace url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Replace QR code (top right), use QR Monkey, it’s free and persistent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Add acknowledgments if applicable (e.g. project funding)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Make sure references are correct</a:t>
            </a:r>
            <a:endParaRPr/>
          </a:p>
        </p:txBody>
      </p:sp>
      <p:sp>
        <p:nvSpPr>
          <p:cNvPr id="16" name="Google Shape;16;p1:notes"/>
          <p:cNvSpPr txBox="1">
            <a:spLocks noGrp="1"/>
          </p:cNvSpPr>
          <p:nvPr>
            <p:ph type="sldNum" idx="12"/>
          </p:nvPr>
        </p:nvSpPr>
        <p:spPr>
          <a:xfrm>
            <a:off x="4143375" y="9120188"/>
            <a:ext cx="3170100" cy="4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514516" y="1714510"/>
            <a:ext cx="27246900" cy="7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3225" tIns="186625" rIns="373225" bIns="1866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514516" y="9987022"/>
            <a:ext cx="27246900" cy="282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3225" tIns="186625" rIns="373225" bIns="186625" anchor="t" anchorCtr="0">
            <a:noAutofit/>
          </a:bodyPr>
          <a:lstStyle>
            <a:lvl1pPr marL="457200" marR="0" lvl="0" indent="-1060450" algn="l" rtl="0"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ts val="13100"/>
              <a:buFont typeface="Arial"/>
              <a:buChar char="•"/>
              <a:defRPr sz="13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52500" algn="l" rtl="0">
              <a:spcBef>
                <a:spcPts val="2300"/>
              </a:spcBef>
              <a:spcAft>
                <a:spcPts val="0"/>
              </a:spcAft>
              <a:buClr>
                <a:schemeClr val="dk1"/>
              </a:buClr>
              <a:buSzPts val="11400"/>
              <a:buFont typeface="Arial"/>
              <a:buChar char="–"/>
              <a:defRPr sz="1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50900" algn="l" rtl="0"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9800"/>
              <a:buFont typeface="Arial"/>
              <a:buChar char="•"/>
              <a:defRPr sz="9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–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»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/>
          <p:nvPr/>
        </p:nvSpPr>
        <p:spPr>
          <a:xfrm>
            <a:off x="15354300" y="40040625"/>
            <a:ext cx="14489100" cy="2108700"/>
          </a:xfrm>
          <a:prstGeom prst="roundRect">
            <a:avLst>
              <a:gd name="adj" fmla="val 9135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32514" y="1662585"/>
            <a:ext cx="29411100" cy="4201800"/>
          </a:xfrm>
          <a:prstGeom prst="roundRect">
            <a:avLst>
              <a:gd name="adj" fmla="val 5036"/>
            </a:avLst>
          </a:prstGeom>
          <a:solidFill>
            <a:srgbClr val="344A9A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32656" y="7329892"/>
            <a:ext cx="29411100" cy="78939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dk1"/>
                </a:solidFill>
              </a:rPr>
              <a:t>Task description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dk1"/>
                </a:solidFill>
              </a:rPr>
              <a:t>What is MPO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dk1"/>
                </a:solidFill>
              </a:rPr>
              <a:t>How it improves over standard methods such as PPO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4294967295"/>
          </p:nvPr>
        </p:nvSpPr>
        <p:spPr>
          <a:xfrm>
            <a:off x="1009200" y="4258851"/>
            <a:ext cx="20202300" cy="5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l">
              <a:buSzPts val="1000"/>
            </a:pPr>
            <a:r>
              <a:rPr lang="de-DE" sz="45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Jason Dietrich, Leon Manthey, Niklas Rodenbüsch</a:t>
            </a:r>
            <a:endParaRPr sz="45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" name="Google Shape;22;p3"/>
          <p:cNvCxnSpPr/>
          <p:nvPr/>
        </p:nvCxnSpPr>
        <p:spPr>
          <a:xfrm>
            <a:off x="-11072" y="42548954"/>
            <a:ext cx="30298200" cy="62100"/>
          </a:xfrm>
          <a:prstGeom prst="straightConnector1">
            <a:avLst/>
          </a:prstGeom>
          <a:noFill/>
          <a:ln w="139700" cap="flat" cmpd="sng">
            <a:solidFill>
              <a:srgbClr val="C0C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ctrTitle" idx="4294967295"/>
          </p:nvPr>
        </p:nvSpPr>
        <p:spPr>
          <a:xfrm rot="-474">
            <a:off x="1009200" y="1829360"/>
            <a:ext cx="28282200" cy="235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de-DE" sz="9600" b="1" dirty="0">
                <a:solidFill>
                  <a:schemeClr val="bg1"/>
                </a:solidFill>
              </a:rPr>
              <a:t>Learning </a:t>
            </a:r>
            <a:r>
              <a:rPr lang="de-DE" sz="9600" b="1" dirty="0" err="1">
                <a:solidFill>
                  <a:schemeClr val="bg1"/>
                </a:solidFill>
              </a:rPr>
              <a:t>to</a:t>
            </a:r>
            <a:r>
              <a:rPr lang="de-DE" sz="9600" b="1" dirty="0">
                <a:solidFill>
                  <a:schemeClr val="bg1"/>
                </a:solidFill>
              </a:rPr>
              <a:t> Score </a:t>
            </a:r>
            <a:r>
              <a:rPr lang="de-DE" sz="9600" b="1" dirty="0" err="1">
                <a:solidFill>
                  <a:schemeClr val="bg1"/>
                </a:solidFill>
              </a:rPr>
              <a:t>with</a:t>
            </a:r>
            <a:r>
              <a:rPr lang="de-DE" sz="9600" b="1" dirty="0">
                <a:solidFill>
                  <a:schemeClr val="bg1"/>
                </a:solidFill>
              </a:rPr>
              <a:t> a Robot Soccer Agent</a:t>
            </a:r>
          </a:p>
        </p:txBody>
      </p:sp>
      <p:pic>
        <p:nvPicPr>
          <p:cNvPr id="24" name="Google Shape;2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30517" y="1971557"/>
            <a:ext cx="847956" cy="847956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3"/>
          <p:cNvSpPr txBox="1"/>
          <p:nvPr/>
        </p:nvSpPr>
        <p:spPr>
          <a:xfrm>
            <a:off x="15354300" y="40040625"/>
            <a:ext cx="14489100" cy="21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[1] …</a:t>
            </a:r>
            <a:endParaRPr sz="22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[2] …</a:t>
            </a:r>
            <a:endParaRPr sz="22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[3] …</a:t>
            </a:r>
            <a:endParaRPr sz="2200"/>
          </a:p>
        </p:txBody>
      </p:sp>
      <p:sp>
        <p:nvSpPr>
          <p:cNvPr id="26" name="Google Shape;26;p3"/>
          <p:cNvSpPr txBox="1">
            <a:spLocks noGrp="1"/>
          </p:cNvSpPr>
          <p:nvPr>
            <p:ph type="ctrTitle" idx="4294967295"/>
          </p:nvPr>
        </p:nvSpPr>
        <p:spPr>
          <a:xfrm>
            <a:off x="1009200" y="5044800"/>
            <a:ext cx="20202300" cy="7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-US" sz="3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University of Freiburg</a:t>
            </a:r>
            <a:endParaRPr sz="3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"/>
          <p:cNvSpPr txBox="1"/>
          <p:nvPr/>
        </p:nvSpPr>
        <p:spPr>
          <a:xfrm>
            <a:off x="432562" y="5864390"/>
            <a:ext cx="144891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rgbClr val="344A9A"/>
                </a:solidFill>
              </a:rPr>
              <a:t>Introduction</a:t>
            </a:r>
            <a:endParaRPr sz="5400" b="1" dirty="0">
              <a:solidFill>
                <a:srgbClr val="344A9A"/>
              </a:solidFill>
            </a:endParaRPr>
          </a:p>
        </p:txBody>
      </p:sp>
      <p:sp>
        <p:nvSpPr>
          <p:cNvPr id="28" name="Google Shape;28;p3"/>
          <p:cNvSpPr txBox="1"/>
          <p:nvPr/>
        </p:nvSpPr>
        <p:spPr>
          <a:xfrm>
            <a:off x="15354257" y="38534359"/>
            <a:ext cx="45555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344A9A"/>
                </a:solidFill>
              </a:rPr>
              <a:t>References</a:t>
            </a:r>
            <a:endParaRPr sz="5400" b="1">
              <a:solidFill>
                <a:srgbClr val="344A9A"/>
              </a:solidFill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432562" y="16697294"/>
            <a:ext cx="29411100" cy="53697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dk1"/>
                </a:solidFill>
              </a:rPr>
              <a:t>Implement MPO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dk1"/>
                </a:solidFill>
              </a:rPr>
              <a:t>Train on easy native tasks -&gt; cartpole balance/</a:t>
            </a:r>
            <a:r>
              <a:rPr lang="en-US" sz="1300" dirty="0" err="1">
                <a:solidFill>
                  <a:schemeClr val="dk1"/>
                </a:solidFill>
              </a:rPr>
              <a:t>swingup</a:t>
            </a:r>
            <a:endParaRPr lang="en-US" sz="1300" i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dk1"/>
                </a:solidFill>
              </a:rPr>
              <a:t>Implement incrementally more difficult environments (first cartpole with ball, then with joint, then standing agent, then walking agent, then </a:t>
            </a:r>
            <a:r>
              <a:rPr lang="en-US" sz="1300">
                <a:solidFill>
                  <a:schemeClr val="dk1"/>
                </a:solidFill>
              </a:rPr>
              <a:t>with ball)</a:t>
            </a:r>
            <a:endParaRPr lang="en-US" sz="1300" dirty="0">
              <a:solidFill>
                <a:schemeClr val="dk1"/>
              </a:solidFill>
            </a:endParaRPr>
          </a:p>
        </p:txBody>
      </p:sp>
      <p:sp>
        <p:nvSpPr>
          <p:cNvPr id="30" name="Google Shape;30;p3"/>
          <p:cNvSpPr txBox="1"/>
          <p:nvPr/>
        </p:nvSpPr>
        <p:spPr>
          <a:xfrm>
            <a:off x="432467" y="15231791"/>
            <a:ext cx="45555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344A9A"/>
                </a:solidFill>
              </a:rPr>
              <a:t>Method</a:t>
            </a:r>
            <a:endParaRPr sz="5400" b="1">
              <a:solidFill>
                <a:srgbClr val="344A9A"/>
              </a:solidFill>
            </a:endParaRPr>
          </a:p>
        </p:txBody>
      </p:sp>
      <p:pic>
        <p:nvPicPr>
          <p:cNvPr id="31" name="Google Shape;31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2514" y="466880"/>
            <a:ext cx="6604559" cy="728824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3"/>
          <p:cNvSpPr txBox="1"/>
          <p:nvPr/>
        </p:nvSpPr>
        <p:spPr>
          <a:xfrm>
            <a:off x="432553" y="41723514"/>
            <a:ext cx="14489100" cy="6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81850" rIns="81850" bIns="818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3100" b="1">
                <a:solidFill>
                  <a:schemeClr val="dk1"/>
                </a:solidFill>
              </a:rPr>
              <a:t>Acknowledgement:</a:t>
            </a:r>
            <a:endParaRPr sz="3100">
              <a:solidFill>
                <a:schemeClr val="dk1"/>
              </a:solidFill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15354281" y="23532576"/>
            <a:ext cx="14489100" cy="150018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3"/>
          <p:cNvSpPr txBox="1"/>
          <p:nvPr/>
        </p:nvSpPr>
        <p:spPr>
          <a:xfrm>
            <a:off x="15354233" y="22067074"/>
            <a:ext cx="144894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344A9A"/>
                </a:solidFill>
              </a:rPr>
              <a:t>Qualitative Results</a:t>
            </a:r>
            <a:endParaRPr sz="5400" b="1">
              <a:solidFill>
                <a:srgbClr val="344A9A"/>
              </a:solidFill>
            </a:endParaRPr>
          </a:p>
        </p:txBody>
      </p:sp>
      <p:sp>
        <p:nvSpPr>
          <p:cNvPr id="35" name="Google Shape;35;p3"/>
          <p:cNvSpPr/>
          <p:nvPr/>
        </p:nvSpPr>
        <p:spPr>
          <a:xfrm>
            <a:off x="432675" y="23527175"/>
            <a:ext cx="14489100" cy="180135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3"/>
          <p:cNvSpPr txBox="1"/>
          <p:nvPr/>
        </p:nvSpPr>
        <p:spPr>
          <a:xfrm>
            <a:off x="432633" y="22061678"/>
            <a:ext cx="144891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344A9A"/>
                </a:solidFill>
              </a:rPr>
              <a:t>Quantitative Results</a:t>
            </a:r>
            <a:endParaRPr sz="5400" b="1">
              <a:solidFill>
                <a:srgbClr val="344A9A"/>
              </a:solidFill>
            </a:endParaRPr>
          </a:p>
        </p:txBody>
      </p:sp>
      <p:sp>
        <p:nvSpPr>
          <p:cNvPr id="37" name="Google Shape;37;p3"/>
          <p:cNvSpPr txBox="1"/>
          <p:nvPr/>
        </p:nvSpPr>
        <p:spPr>
          <a:xfrm>
            <a:off x="21007286" y="531980"/>
            <a:ext cx="8836200" cy="5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lvl="0" algn="r"/>
            <a:r>
              <a:rPr lang="en-US" sz="3600" dirty="0">
                <a:solidFill>
                  <a:srgbClr val="344A9A"/>
                </a:solidFill>
                <a:latin typeface="Verdana"/>
                <a:ea typeface="Verdana"/>
                <a:cs typeface="Verdana"/>
                <a:sym typeface="Verdana"/>
              </a:rPr>
              <a:t>https://github.com/NI-R0/NR9</a:t>
            </a:r>
            <a:endParaRPr sz="3600" dirty="0">
              <a:solidFill>
                <a:srgbClr val="344A9A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8" name="Google Shape;38;p3"/>
          <p:cNvSpPr txBox="1">
            <a:spLocks noGrp="1"/>
          </p:cNvSpPr>
          <p:nvPr>
            <p:ph type="ctrTitle" idx="4294967295"/>
          </p:nvPr>
        </p:nvSpPr>
        <p:spPr>
          <a:xfrm>
            <a:off x="9457300" y="4318575"/>
            <a:ext cx="19834200" cy="5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>
              <a:buSzPts val="1000"/>
            </a:pPr>
            <a:r>
              <a:rPr lang="en-US" sz="45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Julien </a:t>
            </a:r>
            <a:r>
              <a:rPr lang="en-US" sz="4500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Brosseit</a:t>
            </a:r>
            <a:endParaRPr sz="45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_Poster03_E1_Office_A0_RGB_Office2002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</Words>
  <Application>Microsoft Office PowerPoint</Application>
  <PresentationFormat>Custom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Verdana</vt:lpstr>
      <vt:lpstr>Uni_Poster03_E1_Office_A0_RGB_Office2002</vt:lpstr>
      <vt:lpstr>Jason Dietrich, Leon Manthey, Niklas Rodenbüsch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Niklas Rodenbuesch</cp:lastModifiedBy>
  <cp:revision>1</cp:revision>
  <dcterms:modified xsi:type="dcterms:W3CDTF">2026-07-26T18:14:44Z</dcterms:modified>
</cp:coreProperties>
</file>